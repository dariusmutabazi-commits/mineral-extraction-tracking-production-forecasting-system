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92" r:id="rId6"/>
    <p:sldId id="260" r:id="rId7"/>
    <p:sldId id="262" r:id="rId8"/>
    <p:sldId id="265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911"/>
    <a:srgbClr val="242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-26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9E2CF-F222-425E-9727-2C3EE6452C7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774D5-9759-41E5-B4CF-24D6FC088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83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-mining companies still use manual spreadsheets.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challenges: accuracy, lateness, no trend visibility.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real users suffer from poor data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396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system replaces manual logs with a PL/SQL database.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automation reduces errors.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forecasting helps managers plan ahead.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655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-The ER diagram shows how data is structured.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key relationships (e.g., a site has many extraction events).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design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normalized and efficient.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45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85A9-F2D9-9B60-BFFB-625903E5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04C09-F6EA-D9D5-AAA4-80C9FCAD3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82CB6-29D0-80F3-6988-3FD2FE787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-This workflow shows how data flows from the operator all the way to reporting and forecasting.</a:t>
            </a:r>
          </a:p>
          <a:p>
            <a:r>
              <a:rPr lang="en-US" dirty="0"/>
              <a:t>-The system ensures that only valid data is stored, which prevents wrong calculations.</a:t>
            </a:r>
          </a:p>
          <a:p>
            <a:r>
              <a:rPr lang="en-US" dirty="0"/>
              <a:t>-Anomaly detection helps identify suspicious extraction levels for safety and accuracy.</a:t>
            </a:r>
          </a:p>
          <a:p>
            <a:r>
              <a:rPr lang="en-US"/>
              <a:t>-The forecasting step helps the company plan production, logistics, and equipment allocation.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D2A6-0BC0-006E-3241-D5086B0F4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668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PL/SQL is used for automation and logic.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use of packages to group related procedures.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triggers enforce rules automatically.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774D5-9759-41E5-B4CF-24D6FC08839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906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9FE9-AD4F-5647-A07C-4BDB506FD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0644E-0E8C-82E7-E764-FD9817F26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0F40D-E15E-E2DB-31BE-FDA6439C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951C0-F4A4-05F6-92AC-FB629F1B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B2628-455E-6380-CDA3-57E5EC17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8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A0FC-AA2D-1FEC-9D67-21EFAAB2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7A193-1928-9263-6340-30C524C42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0B04-4311-B4F4-FC91-DBD50CE8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C2961-658E-987C-23E1-00DFAE88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7663D-BBE1-A351-E9D7-CBD642C3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5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D1FA-0E38-A806-8A0A-62E997DE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F42F8-4262-9A4B-2CF1-6A50BACB3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C23B3-3901-E2E8-4579-4908DE75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667E-5D33-4678-B17B-40DEB752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3C22-9CC9-7509-AB40-9A243421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42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2462-AD87-D51B-17B8-DBEB1894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D1AF-22C2-6CAD-9D7B-94BB495E4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029AD-0FD2-7C4D-3C8F-C53F6587C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499BA-399C-43D1-79BB-A471FE43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18D8D-3CBC-56E2-81BE-3748D767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1F732-359A-6E16-9312-7151571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65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F8AD-EECF-D0F8-6301-07426EA1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58B2-1384-796C-3D76-5A95BC40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765CA-6BC2-B36C-2D0B-11D0E0A59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50A13-551C-6AC8-4A9B-7D6A05041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64058-3A27-F03F-5AEC-FEE6688B6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19C15-971D-E184-8D11-0AD22D66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9C6DE-5A77-F863-D942-905B66A3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60CDA-81A8-5F40-0EE0-C63E6232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41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F414-B6A9-AFA6-CA12-BB0F0735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996BEC-53C6-0019-4376-0614BAB3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6F8E6-FDE1-280B-787E-5C339859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C2346-08EF-C95A-FA75-D280FA11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06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828B6-9399-C652-135D-6F702F58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E2526-8860-05CF-8A3D-E1E3D7D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C897-A01E-6345-C27D-98125302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43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8617-E3D9-DAB6-D2D8-FB6E56FB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97CC-529A-5211-FCEA-FC8387CE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774CB-2ABC-61E6-40DF-CD1E9B072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004EB-E43B-0AA4-3BCD-B7A285DE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34788-B0CB-CE47-FAF8-C06308EC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05CD8-FAC6-768C-1972-43A2408B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5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FF2F-5223-CADD-9C0B-F31B4753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3C5EC-6CDD-173B-08CC-BE00C4A8C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7C08F-18CA-BB31-1EC6-1E100AD0A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6A1E0-9A0D-4F68-455C-40186E20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D7FB-60AE-1C3B-9468-94962C93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79046-4410-1365-0FAB-CC45E847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89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6A31-C2E4-FE06-86A8-F8E8E4E8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C17AB-2C5C-A6AB-2B8F-58587C7A6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2878-8C19-742F-022E-40AE2BF4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920A3-818F-D045-633F-7A88ED9B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7736-8728-0D87-08D7-1438D509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35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05B40-652C-7109-6032-1BA84CDDC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EA7F9-60CD-93E1-7FD6-66152BCFE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82CD1-B511-014F-3F7A-57E4A042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D6B71-FA59-72A4-5814-5274F7C3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31BC2-AD20-368F-E085-C8D2746F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49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D009E-9A2F-5320-D321-708759EB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3F165-ED02-AE85-A719-B12AE401C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C6520-0403-9C5E-A17C-D90468A02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80593-4865-4920-91A9-D604ED41E14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BF5AC-C3A3-E005-599E-AD7010DAB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F27A-940B-D9EC-93B3-59666106A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97014-D623-47A3-B70B-6411900B1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98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truck in a quarry&#10;&#10;Description automatically generated">
            <a:extLst>
              <a:ext uri="{FF2B5EF4-FFF2-40B4-BE49-F238E27FC236}">
                <a16:creationId xmlns:a16="http://schemas.microsoft.com/office/drawing/2014/main" id="{832C72E4-7332-4F92-8014-2C6A091BFF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76" r="27451" b="30876"/>
          <a:stretch/>
        </p:blipFill>
        <p:spPr>
          <a:xfrm>
            <a:off x="0" y="6350"/>
            <a:ext cx="10007600" cy="685800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4C92CDF-7D61-F1D1-C8EA-AD81E47B5B25}"/>
              </a:ext>
            </a:extLst>
          </p:cNvPr>
          <p:cNvSpPr/>
          <p:nvPr/>
        </p:nvSpPr>
        <p:spPr>
          <a:xfrm>
            <a:off x="-88901" y="-6350"/>
            <a:ext cx="10007600" cy="6858000"/>
          </a:xfrm>
          <a:custGeom>
            <a:avLst/>
            <a:gdLst>
              <a:gd name="connsiteX0" fmla="*/ 0 w 10007600"/>
              <a:gd name="connsiteY0" fmla="*/ 0 h 6858000"/>
              <a:gd name="connsiteX1" fmla="*/ 10007600 w 10007600"/>
              <a:gd name="connsiteY1" fmla="*/ 0 h 6858000"/>
              <a:gd name="connsiteX2" fmla="*/ 4495800 w 10007600"/>
              <a:gd name="connsiteY2" fmla="*/ 6858000 h 6858000"/>
              <a:gd name="connsiteX3" fmla="*/ 0 w 10007600"/>
              <a:gd name="connsiteY3" fmla="*/ 6858000 h 6858000"/>
              <a:gd name="connsiteX4" fmla="*/ 0 w 100076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7600" h="6858000">
                <a:moveTo>
                  <a:pt x="0" y="0"/>
                </a:moveTo>
                <a:lnTo>
                  <a:pt x="10007600" y="0"/>
                </a:lnTo>
                <a:lnTo>
                  <a:pt x="44958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B1B1B">
              <a:alpha val="89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46FF512-FF8F-D7F2-0AD9-B8FAF55B46EE}"/>
              </a:ext>
            </a:extLst>
          </p:cNvPr>
          <p:cNvSpPr/>
          <p:nvPr/>
        </p:nvSpPr>
        <p:spPr>
          <a:xfrm>
            <a:off x="6826250" y="0"/>
            <a:ext cx="2927350" cy="2946400"/>
          </a:xfrm>
          <a:custGeom>
            <a:avLst/>
            <a:gdLst>
              <a:gd name="connsiteX0" fmla="*/ 2336800 w 2927350"/>
              <a:gd name="connsiteY0" fmla="*/ 0 h 2946400"/>
              <a:gd name="connsiteX1" fmla="*/ 2927350 w 2927350"/>
              <a:gd name="connsiteY1" fmla="*/ 0 h 2946400"/>
              <a:gd name="connsiteX2" fmla="*/ 590550 w 2927350"/>
              <a:gd name="connsiteY2" fmla="*/ 2946400 h 2946400"/>
              <a:gd name="connsiteX3" fmla="*/ 0 w 2927350"/>
              <a:gd name="connsiteY3" fmla="*/ 2946400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7350" h="2946400">
                <a:moveTo>
                  <a:pt x="2336800" y="0"/>
                </a:moveTo>
                <a:lnTo>
                  <a:pt x="2927350" y="0"/>
                </a:lnTo>
                <a:lnTo>
                  <a:pt x="590550" y="2946400"/>
                </a:lnTo>
                <a:lnTo>
                  <a:pt x="0" y="2946400"/>
                </a:lnTo>
                <a:close/>
              </a:path>
            </a:pathLst>
          </a:custGeom>
          <a:solidFill>
            <a:srgbClr val="FAB91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D8D75C-DBA1-CACF-FC9E-8E8938C3B94D}"/>
              </a:ext>
            </a:extLst>
          </p:cNvPr>
          <p:cNvGrpSpPr/>
          <p:nvPr/>
        </p:nvGrpSpPr>
        <p:grpSpPr>
          <a:xfrm>
            <a:off x="-89367" y="584200"/>
            <a:ext cx="6346234" cy="4740370"/>
            <a:chOff x="-8591" y="3079974"/>
            <a:chExt cx="6428895" cy="340690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1B23EE-5F1D-DB94-7368-F81C1943424E}"/>
                </a:ext>
              </a:extLst>
            </p:cNvPr>
            <p:cNvSpPr txBox="1"/>
            <p:nvPr/>
          </p:nvSpPr>
          <p:spPr>
            <a:xfrm>
              <a:off x="324304" y="3079974"/>
              <a:ext cx="6096000" cy="2012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Mineral Extraction Tracking &amp; Production Forecasting System</a:t>
              </a:r>
              <a:endParaRPr lang="en-IN" sz="44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952C777-53BB-169D-A4D1-5F37A56216F2}"/>
                </a:ext>
              </a:extLst>
            </p:cNvPr>
            <p:cNvSpPr txBox="1"/>
            <p:nvPr/>
          </p:nvSpPr>
          <p:spPr>
            <a:xfrm>
              <a:off x="-8591" y="5933882"/>
              <a:ext cx="6096000" cy="552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Student: Mutabazi Darius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ID: 28239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AUCA — PL/SQL Practicum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Date: 05,12,2025</a:t>
              </a:r>
            </a:p>
          </p:txBody>
        </p:sp>
      </p:grpSp>
      <p:pic>
        <p:nvPicPr>
          <p:cNvPr id="7" name="Picture 6" descr="A group of people working on a pile of rocks&#10;&#10;Description automatically generated">
            <a:extLst>
              <a:ext uri="{FF2B5EF4-FFF2-40B4-BE49-F238E27FC236}">
                <a16:creationId xmlns:a16="http://schemas.microsoft.com/office/drawing/2014/main" id="{ECA555EA-A281-ED0B-748D-8D296F96ED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" r="35129" b="4627"/>
          <a:stretch/>
        </p:blipFill>
        <p:spPr>
          <a:xfrm>
            <a:off x="4446813" y="0"/>
            <a:ext cx="7745187" cy="6870700"/>
          </a:xfrm>
          <a:custGeom>
            <a:avLst/>
            <a:gdLst>
              <a:gd name="connsiteX0" fmla="*/ 5471886 w 7745187"/>
              <a:gd name="connsiteY0" fmla="*/ 0 h 6975020"/>
              <a:gd name="connsiteX1" fmla="*/ 7745187 w 7745187"/>
              <a:gd name="connsiteY1" fmla="*/ 0 h 6975020"/>
              <a:gd name="connsiteX2" fmla="*/ 7745187 w 7745187"/>
              <a:gd name="connsiteY2" fmla="*/ 6975020 h 6975020"/>
              <a:gd name="connsiteX3" fmla="*/ 0 w 7745187"/>
              <a:gd name="connsiteY3" fmla="*/ 6945991 h 6975020"/>
              <a:gd name="connsiteX4" fmla="*/ 5471886 w 7745187"/>
              <a:gd name="connsiteY4" fmla="*/ 0 h 6975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45187" h="6975020">
                <a:moveTo>
                  <a:pt x="5471886" y="0"/>
                </a:moveTo>
                <a:lnTo>
                  <a:pt x="7745187" y="0"/>
                </a:lnTo>
                <a:lnTo>
                  <a:pt x="7745187" y="6975020"/>
                </a:lnTo>
                <a:lnTo>
                  <a:pt x="0" y="6945991"/>
                </a:lnTo>
                <a:lnTo>
                  <a:pt x="5471886" y="0"/>
                </a:ln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25B3209-F74F-2D06-B483-5C69CCF9A418}"/>
              </a:ext>
            </a:extLst>
          </p:cNvPr>
          <p:cNvSpPr/>
          <p:nvPr/>
        </p:nvSpPr>
        <p:spPr>
          <a:xfrm>
            <a:off x="4433208" y="3676650"/>
            <a:ext cx="4584700" cy="3181350"/>
          </a:xfrm>
          <a:custGeom>
            <a:avLst/>
            <a:gdLst>
              <a:gd name="connsiteX0" fmla="*/ 2556002 w 4584700"/>
              <a:gd name="connsiteY0" fmla="*/ 0 h 3181350"/>
              <a:gd name="connsiteX1" fmla="*/ 0 w 4584700"/>
              <a:gd name="connsiteY1" fmla="*/ 3181350 h 3181350"/>
              <a:gd name="connsiteX2" fmla="*/ 4584700 w 4584700"/>
              <a:gd name="connsiteY2" fmla="*/ 3181350 h 318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84700" h="3181350">
                <a:moveTo>
                  <a:pt x="2556002" y="0"/>
                </a:moveTo>
                <a:lnTo>
                  <a:pt x="0" y="3181350"/>
                </a:lnTo>
                <a:lnTo>
                  <a:pt x="4584700" y="3181350"/>
                </a:lnTo>
                <a:close/>
              </a:path>
            </a:pathLst>
          </a:custGeom>
          <a:solidFill>
            <a:srgbClr val="FAB91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AE84466-405F-EF5A-701E-4E864A150ADB}"/>
              </a:ext>
            </a:extLst>
          </p:cNvPr>
          <p:cNvSpPr/>
          <p:nvPr/>
        </p:nvSpPr>
        <p:spPr>
          <a:xfrm>
            <a:off x="6829043" y="2946400"/>
            <a:ext cx="3089656" cy="3917950"/>
          </a:xfrm>
          <a:custGeom>
            <a:avLst/>
            <a:gdLst>
              <a:gd name="connsiteX0" fmla="*/ 0 w 3089656"/>
              <a:gd name="connsiteY0" fmla="*/ 0 h 3917950"/>
              <a:gd name="connsiteX1" fmla="*/ 590550 w 3089656"/>
              <a:gd name="connsiteY1" fmla="*/ 0 h 3917950"/>
              <a:gd name="connsiteX2" fmla="*/ 3089656 w 3089656"/>
              <a:gd name="connsiteY2" fmla="*/ 3917950 h 3917950"/>
              <a:gd name="connsiteX3" fmla="*/ 2499106 w 3089656"/>
              <a:gd name="connsiteY3" fmla="*/ 3917950 h 391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9656" h="3917950">
                <a:moveTo>
                  <a:pt x="0" y="0"/>
                </a:moveTo>
                <a:lnTo>
                  <a:pt x="590550" y="0"/>
                </a:lnTo>
                <a:lnTo>
                  <a:pt x="3089656" y="3917950"/>
                </a:lnTo>
                <a:lnTo>
                  <a:pt x="2499106" y="391795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76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99A106E-9D29-43F1-56A9-FDD6E47D093F}"/>
              </a:ext>
            </a:extLst>
          </p:cNvPr>
          <p:cNvSpPr/>
          <p:nvPr/>
        </p:nvSpPr>
        <p:spPr>
          <a:xfrm>
            <a:off x="5447944" y="3625850"/>
            <a:ext cx="3089630" cy="3917950"/>
          </a:xfrm>
          <a:custGeom>
            <a:avLst/>
            <a:gdLst>
              <a:gd name="connsiteX0" fmla="*/ 0 w 3089630"/>
              <a:gd name="connsiteY0" fmla="*/ 0 h 3917950"/>
              <a:gd name="connsiteX1" fmla="*/ 590550 w 3089630"/>
              <a:gd name="connsiteY1" fmla="*/ 0 h 3917950"/>
              <a:gd name="connsiteX2" fmla="*/ 3089631 w 3089630"/>
              <a:gd name="connsiteY2" fmla="*/ 3917950 h 3917950"/>
              <a:gd name="connsiteX3" fmla="*/ 2499081 w 3089630"/>
              <a:gd name="connsiteY3" fmla="*/ 3917950 h 391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9630" h="3917950">
                <a:moveTo>
                  <a:pt x="0" y="0"/>
                </a:moveTo>
                <a:lnTo>
                  <a:pt x="590550" y="0"/>
                </a:lnTo>
                <a:lnTo>
                  <a:pt x="3089631" y="3917950"/>
                </a:lnTo>
                <a:lnTo>
                  <a:pt x="2499081" y="391795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2770A1-9F71-3743-8EF4-CABB10FDDAC8}"/>
              </a:ext>
            </a:extLst>
          </p:cNvPr>
          <p:cNvSpPr/>
          <p:nvPr/>
        </p:nvSpPr>
        <p:spPr>
          <a:xfrm>
            <a:off x="5435600" y="0"/>
            <a:ext cx="3460750" cy="3625850"/>
          </a:xfrm>
          <a:custGeom>
            <a:avLst/>
            <a:gdLst>
              <a:gd name="connsiteX0" fmla="*/ 2870200 w 3460750"/>
              <a:gd name="connsiteY0" fmla="*/ 0 h 3625850"/>
              <a:gd name="connsiteX1" fmla="*/ 3460750 w 3460750"/>
              <a:gd name="connsiteY1" fmla="*/ 0 h 3625850"/>
              <a:gd name="connsiteX2" fmla="*/ 590550 w 3460750"/>
              <a:gd name="connsiteY2" fmla="*/ 3625850 h 3625850"/>
              <a:gd name="connsiteX3" fmla="*/ 0 w 3460750"/>
              <a:gd name="connsiteY3" fmla="*/ 3625850 h 362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0750" h="3625850">
                <a:moveTo>
                  <a:pt x="2870200" y="0"/>
                </a:moveTo>
                <a:lnTo>
                  <a:pt x="3460750" y="0"/>
                </a:lnTo>
                <a:lnTo>
                  <a:pt x="590550" y="3625850"/>
                </a:lnTo>
                <a:lnTo>
                  <a:pt x="0" y="362585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2DF0A8-71F0-EB5E-A4C6-FA6FBD45AEC5}"/>
              </a:ext>
            </a:extLst>
          </p:cNvPr>
          <p:cNvSpPr/>
          <p:nvPr/>
        </p:nvSpPr>
        <p:spPr>
          <a:xfrm>
            <a:off x="5226050" y="0"/>
            <a:ext cx="2825750" cy="1962150"/>
          </a:xfrm>
          <a:custGeom>
            <a:avLst/>
            <a:gdLst>
              <a:gd name="connsiteX0" fmla="*/ 1269428 w 2825750"/>
              <a:gd name="connsiteY0" fmla="*/ 1962150 h 1962150"/>
              <a:gd name="connsiteX1" fmla="*/ 2825750 w 2825750"/>
              <a:gd name="connsiteY1" fmla="*/ 0 h 1962150"/>
              <a:gd name="connsiteX2" fmla="*/ 0 w 2825750"/>
              <a:gd name="connsiteY2" fmla="*/ 0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5750" h="1962150">
                <a:moveTo>
                  <a:pt x="1269428" y="1962150"/>
                </a:moveTo>
                <a:lnTo>
                  <a:pt x="28257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74C84A-2267-8466-424C-DECBA43325D4}"/>
              </a:ext>
            </a:extLst>
          </p:cNvPr>
          <p:cNvSpPr/>
          <p:nvPr/>
        </p:nvSpPr>
        <p:spPr>
          <a:xfrm>
            <a:off x="0" y="6419850"/>
            <a:ext cx="7232078" cy="438213"/>
          </a:xfrm>
          <a:custGeom>
            <a:avLst/>
            <a:gdLst>
              <a:gd name="connsiteX0" fmla="*/ 0 w 7232078"/>
              <a:gd name="connsiteY0" fmla="*/ 0 h 438213"/>
              <a:gd name="connsiteX1" fmla="*/ 6953250 w 7232078"/>
              <a:gd name="connsiteY1" fmla="*/ 0 h 438213"/>
              <a:gd name="connsiteX2" fmla="*/ 7232079 w 7232078"/>
              <a:gd name="connsiteY2" fmla="*/ 438214 h 438213"/>
              <a:gd name="connsiteX3" fmla="*/ 0 w 7232078"/>
              <a:gd name="connsiteY3" fmla="*/ 438150 h 438213"/>
              <a:gd name="connsiteX4" fmla="*/ 0 w 7232078"/>
              <a:gd name="connsiteY4" fmla="*/ 0 h 4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2078" h="438213">
                <a:moveTo>
                  <a:pt x="0" y="0"/>
                </a:moveTo>
                <a:lnTo>
                  <a:pt x="6953250" y="0"/>
                </a:lnTo>
                <a:lnTo>
                  <a:pt x="7232079" y="438214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6" name="Picture 25" descr="A yellow excavator and a construction vehicle&#10;&#10;Description automatically generated">
            <a:extLst>
              <a:ext uri="{FF2B5EF4-FFF2-40B4-BE49-F238E27FC236}">
                <a16:creationId xmlns:a16="http://schemas.microsoft.com/office/drawing/2014/main" id="{D20965A5-7D73-FB0B-A137-1A16F0390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0" t="3230" r="32766" b="2070"/>
          <a:stretch>
            <a:fillRect/>
          </a:stretch>
        </p:blipFill>
        <p:spPr>
          <a:xfrm>
            <a:off x="6023786" y="0"/>
            <a:ext cx="6168214" cy="6858000"/>
          </a:xfrm>
          <a:custGeom>
            <a:avLst/>
            <a:gdLst>
              <a:gd name="connsiteX0" fmla="*/ 2872562 w 6168214"/>
              <a:gd name="connsiteY0" fmla="*/ 0 h 6858000"/>
              <a:gd name="connsiteX1" fmla="*/ 6168214 w 6168214"/>
              <a:gd name="connsiteY1" fmla="*/ 0 h 6858000"/>
              <a:gd name="connsiteX2" fmla="*/ 6168214 w 6168214"/>
              <a:gd name="connsiteY2" fmla="*/ 6858000 h 6858000"/>
              <a:gd name="connsiteX3" fmla="*/ 2066112 w 6168214"/>
              <a:gd name="connsiteY3" fmla="*/ 6858000 h 6858000"/>
              <a:gd name="connsiteX4" fmla="*/ 0 w 6168214"/>
              <a:gd name="connsiteY4" fmla="*/ 3623589 h 6858000"/>
              <a:gd name="connsiteX5" fmla="*/ 2872562 w 6168214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8214" h="6858000">
                <a:moveTo>
                  <a:pt x="2872562" y="0"/>
                </a:moveTo>
                <a:lnTo>
                  <a:pt x="6168214" y="0"/>
                </a:lnTo>
                <a:lnTo>
                  <a:pt x="6168214" y="6858000"/>
                </a:lnTo>
                <a:lnTo>
                  <a:pt x="2066112" y="6858000"/>
                </a:lnTo>
                <a:lnTo>
                  <a:pt x="0" y="3623589"/>
                </a:lnTo>
                <a:lnTo>
                  <a:pt x="2872562" y="0"/>
                </a:lnTo>
                <a:close/>
              </a:path>
            </a:pathLst>
          </a:cu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7F70AD0-3DFA-3FC4-D204-85DDAB581D7D}"/>
              </a:ext>
            </a:extLst>
          </p:cNvPr>
          <p:cNvGrpSpPr/>
          <p:nvPr/>
        </p:nvGrpSpPr>
        <p:grpSpPr>
          <a:xfrm>
            <a:off x="643467" y="872068"/>
            <a:ext cx="4004733" cy="4880414"/>
            <a:chOff x="643467" y="2062950"/>
            <a:chExt cx="4004733" cy="3022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FE97D3-A938-C4E4-253F-2D1DC008AC61}"/>
                </a:ext>
              </a:extLst>
            </p:cNvPr>
            <p:cNvSpPr txBox="1"/>
            <p:nvPr/>
          </p:nvSpPr>
          <p:spPr>
            <a:xfrm>
              <a:off x="643467" y="2062950"/>
              <a:ext cx="4004733" cy="588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accent1"/>
                  </a:solidFill>
                </a:rPr>
                <a:t>Problem(Issue , Context, Users)</a:t>
              </a:r>
              <a:endParaRPr lang="en-IN" sz="2800" b="1" dirty="0">
                <a:solidFill>
                  <a:schemeClr val="accent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B3B4EF-D6B8-6BF1-8780-91A10BBE34C1}"/>
                </a:ext>
              </a:extLst>
            </p:cNvPr>
            <p:cNvSpPr txBox="1"/>
            <p:nvPr/>
          </p:nvSpPr>
          <p:spPr>
            <a:xfrm>
              <a:off x="643467" y="2737945"/>
              <a:ext cx="3937000" cy="2347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Mining sites record extraction manually using logs/spreadsheets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Errors, missing data, and inaccurate daily totals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No automated forecasting for planning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Managers lack timely reports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Users affected: operators, supervisors, managers, BI analysts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622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1D668F7-D122-F36C-7F83-2D2EAB5DA468}"/>
              </a:ext>
            </a:extLst>
          </p:cNvPr>
          <p:cNvSpPr/>
          <p:nvPr/>
        </p:nvSpPr>
        <p:spPr>
          <a:xfrm>
            <a:off x="0" y="5873750"/>
            <a:ext cx="7086600" cy="984250"/>
          </a:xfrm>
          <a:custGeom>
            <a:avLst/>
            <a:gdLst>
              <a:gd name="connsiteX0" fmla="*/ 0 w 7086600"/>
              <a:gd name="connsiteY0" fmla="*/ 0 h 984250"/>
              <a:gd name="connsiteX1" fmla="*/ 6460046 w 7086600"/>
              <a:gd name="connsiteY1" fmla="*/ 0 h 984250"/>
              <a:gd name="connsiteX2" fmla="*/ 7086600 w 7086600"/>
              <a:gd name="connsiteY2" fmla="*/ 984250 h 984250"/>
              <a:gd name="connsiteX3" fmla="*/ 0 w 7086600"/>
              <a:gd name="connsiteY3" fmla="*/ 984123 h 984250"/>
              <a:gd name="connsiteX4" fmla="*/ 0 w 7086600"/>
              <a:gd name="connsiteY4" fmla="*/ 0 h 98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984250">
                <a:moveTo>
                  <a:pt x="0" y="0"/>
                </a:moveTo>
                <a:lnTo>
                  <a:pt x="6460046" y="0"/>
                </a:lnTo>
                <a:lnTo>
                  <a:pt x="7086600" y="984250"/>
                </a:lnTo>
                <a:lnTo>
                  <a:pt x="0" y="9841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FE93A8-D2D8-4687-F504-756CCF2FF2C3}"/>
              </a:ext>
            </a:extLst>
          </p:cNvPr>
          <p:cNvSpPr/>
          <p:nvPr/>
        </p:nvSpPr>
        <p:spPr>
          <a:xfrm>
            <a:off x="10795000" y="0"/>
            <a:ext cx="1397000" cy="1397000"/>
          </a:xfrm>
          <a:custGeom>
            <a:avLst/>
            <a:gdLst>
              <a:gd name="connsiteX0" fmla="*/ 0 w 1397000"/>
              <a:gd name="connsiteY0" fmla="*/ 0 h 1397000"/>
              <a:gd name="connsiteX1" fmla="*/ 1397000 w 1397000"/>
              <a:gd name="connsiteY1" fmla="*/ 0 h 1397000"/>
              <a:gd name="connsiteX2" fmla="*/ 1397000 w 1397000"/>
              <a:gd name="connsiteY2" fmla="*/ 1397000 h 139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1397000">
                <a:moveTo>
                  <a:pt x="0" y="0"/>
                </a:moveTo>
                <a:lnTo>
                  <a:pt x="1397000" y="0"/>
                </a:lnTo>
                <a:lnTo>
                  <a:pt x="1397000" y="139700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7" name="Picture 36" descr="A group of people climbing up a yellow railing in a cave&#10;&#10;Description automatically generated">
            <a:extLst>
              <a:ext uri="{FF2B5EF4-FFF2-40B4-BE49-F238E27FC236}">
                <a16:creationId xmlns:a16="http://schemas.microsoft.com/office/drawing/2014/main" id="{B0D510DE-3BE2-8441-C550-09E258331E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7" r="12474" b="3020"/>
          <a:stretch/>
        </p:blipFill>
        <p:spPr>
          <a:xfrm>
            <a:off x="270933" y="2178331"/>
            <a:ext cx="5960533" cy="385445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26664F8-4C98-9480-41A5-CD71A90A0004}"/>
              </a:ext>
            </a:extLst>
          </p:cNvPr>
          <p:cNvSpPr txBox="1"/>
          <p:nvPr/>
        </p:nvSpPr>
        <p:spPr>
          <a:xfrm>
            <a:off x="1031876" y="399135"/>
            <a:ext cx="4013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Solution (Objectives, Scope, Features)</a:t>
            </a:r>
            <a:endParaRPr lang="en-IN" sz="3200" b="1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E69F8A9-96C0-20B5-302B-904BE1E03B82}"/>
              </a:ext>
            </a:extLst>
          </p:cNvPr>
          <p:cNvGrpSpPr/>
          <p:nvPr/>
        </p:nvGrpSpPr>
        <p:grpSpPr>
          <a:xfrm>
            <a:off x="6791325" y="685803"/>
            <a:ext cx="4572000" cy="977898"/>
            <a:chOff x="7023100" y="2108200"/>
            <a:chExt cx="4572000" cy="97789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B9DA868-D0D7-6421-13CC-7FAEBDE0D407}"/>
                </a:ext>
              </a:extLst>
            </p:cNvPr>
            <p:cNvSpPr/>
            <p:nvPr/>
          </p:nvSpPr>
          <p:spPr>
            <a:xfrm>
              <a:off x="7378700" y="2108200"/>
              <a:ext cx="4216400" cy="97789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07401AB-87EB-D8E8-CEFC-60E40C5BFDEC}"/>
                </a:ext>
              </a:extLst>
            </p:cNvPr>
            <p:cNvSpPr/>
            <p:nvPr/>
          </p:nvSpPr>
          <p:spPr>
            <a:xfrm>
              <a:off x="7023100" y="2241549"/>
              <a:ext cx="711200" cy="711200"/>
            </a:xfrm>
            <a:prstGeom prst="ellipse">
              <a:avLst/>
            </a:prstGeom>
            <a:ln>
              <a:noFill/>
            </a:ln>
            <a:effectLst>
              <a:outerShdw blurRad="127000" sx="102000" sy="102000" algn="ctr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6FD1FD-3A32-6204-EB44-B7A3852211B8}"/>
                </a:ext>
              </a:extLst>
            </p:cNvPr>
            <p:cNvSpPr txBox="1"/>
            <p:nvPr/>
          </p:nvSpPr>
          <p:spPr>
            <a:xfrm>
              <a:off x="7810228" y="2472272"/>
              <a:ext cx="34448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Automated system to record extraction events</a:t>
              </a:r>
              <a:endPara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4B31589-3F6F-0527-43F2-7101E6DE9E0C}"/>
                </a:ext>
              </a:extLst>
            </p:cNvPr>
            <p:cNvSpPr txBox="1"/>
            <p:nvPr/>
          </p:nvSpPr>
          <p:spPr>
            <a:xfrm>
              <a:off x="7140847" y="2412483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01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7B8979E-9A5E-5100-E117-3257D7FB8A04}"/>
              </a:ext>
            </a:extLst>
          </p:cNvPr>
          <p:cNvGrpSpPr/>
          <p:nvPr/>
        </p:nvGrpSpPr>
        <p:grpSpPr>
          <a:xfrm>
            <a:off x="6791325" y="1917698"/>
            <a:ext cx="4572000" cy="977898"/>
            <a:chOff x="7023100" y="3432059"/>
            <a:chExt cx="4572000" cy="977898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B3F370A-C2AC-DAE8-DA0F-DAE911006E6F}"/>
                </a:ext>
              </a:extLst>
            </p:cNvPr>
            <p:cNvSpPr/>
            <p:nvPr/>
          </p:nvSpPr>
          <p:spPr>
            <a:xfrm>
              <a:off x="7378700" y="3432059"/>
              <a:ext cx="4216400" cy="97789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9FEBFD4-4E48-833F-0B52-82F2893922F0}"/>
                </a:ext>
              </a:extLst>
            </p:cNvPr>
            <p:cNvSpPr/>
            <p:nvPr/>
          </p:nvSpPr>
          <p:spPr>
            <a:xfrm>
              <a:off x="7023100" y="3565408"/>
              <a:ext cx="711200" cy="711200"/>
            </a:xfrm>
            <a:prstGeom prst="ellipse">
              <a:avLst/>
            </a:prstGeom>
            <a:ln>
              <a:noFill/>
            </a:ln>
            <a:effectLst>
              <a:outerShdw blurRad="127000" sx="102000" sy="102000" algn="ctr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8485541-9D42-EABF-F8BA-F937EF6DA9E4}"/>
                </a:ext>
              </a:extLst>
            </p:cNvPr>
            <p:cNvSpPr txBox="1"/>
            <p:nvPr/>
          </p:nvSpPr>
          <p:spPr>
            <a:xfrm>
              <a:off x="7830608" y="3828675"/>
              <a:ext cx="34448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Store equipment, crew, quantity, mineral type</a:t>
              </a:r>
              <a:endPara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2E3F43-8B1D-1346-BD6D-9C12314B090A}"/>
                </a:ext>
              </a:extLst>
            </p:cNvPr>
            <p:cNvSpPr txBox="1"/>
            <p:nvPr/>
          </p:nvSpPr>
          <p:spPr>
            <a:xfrm>
              <a:off x="7139692" y="3736342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02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AAA9C4-CC87-BA55-A7D0-7ED03D32FF9A}"/>
              </a:ext>
            </a:extLst>
          </p:cNvPr>
          <p:cNvGrpSpPr/>
          <p:nvPr/>
        </p:nvGrpSpPr>
        <p:grpSpPr>
          <a:xfrm>
            <a:off x="6791325" y="3040468"/>
            <a:ext cx="4572000" cy="977898"/>
            <a:chOff x="7023100" y="4673598"/>
            <a:chExt cx="4572000" cy="97789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2A64BCB-4615-2017-95B4-834E4ECF93B3}"/>
                </a:ext>
              </a:extLst>
            </p:cNvPr>
            <p:cNvSpPr/>
            <p:nvPr/>
          </p:nvSpPr>
          <p:spPr>
            <a:xfrm>
              <a:off x="7378700" y="4673598"/>
              <a:ext cx="4216400" cy="97789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82527A9-31B5-D2B2-D126-4C7B202FBBF6}"/>
                </a:ext>
              </a:extLst>
            </p:cNvPr>
            <p:cNvSpPr/>
            <p:nvPr/>
          </p:nvSpPr>
          <p:spPr>
            <a:xfrm>
              <a:off x="7023100" y="4806947"/>
              <a:ext cx="711200" cy="711200"/>
            </a:xfrm>
            <a:prstGeom prst="ellipse">
              <a:avLst/>
            </a:prstGeom>
            <a:ln>
              <a:noFill/>
            </a:ln>
            <a:effectLst>
              <a:outerShdw blurRad="127000" sx="102000" sy="102000" algn="ctr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6768729-FFFB-A9F2-681A-4AEF23FB5795}"/>
                </a:ext>
              </a:extLst>
            </p:cNvPr>
            <p:cNvSpPr txBox="1"/>
            <p:nvPr/>
          </p:nvSpPr>
          <p:spPr>
            <a:xfrm>
              <a:off x="7942262" y="4977881"/>
              <a:ext cx="3444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Generate daily extraction summaries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FF2A08C-598D-2868-9FF1-972E62D4D6B2}"/>
                </a:ext>
              </a:extLst>
            </p:cNvPr>
            <p:cNvSpPr txBox="1"/>
            <p:nvPr/>
          </p:nvSpPr>
          <p:spPr>
            <a:xfrm>
              <a:off x="7139692" y="4977881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03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5CF8DEA-19EA-CBA8-2EAD-6B1030A94115}"/>
              </a:ext>
            </a:extLst>
          </p:cNvPr>
          <p:cNvGrpSpPr/>
          <p:nvPr/>
        </p:nvGrpSpPr>
        <p:grpSpPr>
          <a:xfrm>
            <a:off x="6789208" y="4184652"/>
            <a:ext cx="4572000" cy="977898"/>
            <a:chOff x="7023100" y="4673598"/>
            <a:chExt cx="4572000" cy="9778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8295090-1741-3714-CA8D-E0C0876F36EA}"/>
                </a:ext>
              </a:extLst>
            </p:cNvPr>
            <p:cNvSpPr/>
            <p:nvPr/>
          </p:nvSpPr>
          <p:spPr>
            <a:xfrm>
              <a:off x="7378700" y="4673598"/>
              <a:ext cx="4216400" cy="97789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CB1E5A6-8A1D-160D-F445-49E221086AA4}"/>
                </a:ext>
              </a:extLst>
            </p:cNvPr>
            <p:cNvSpPr/>
            <p:nvPr/>
          </p:nvSpPr>
          <p:spPr>
            <a:xfrm>
              <a:off x="7023100" y="4806947"/>
              <a:ext cx="711200" cy="711200"/>
            </a:xfrm>
            <a:prstGeom prst="ellipse">
              <a:avLst/>
            </a:prstGeom>
            <a:ln>
              <a:noFill/>
            </a:ln>
            <a:effectLst>
              <a:outerShdw blurRad="127000" sx="102000" sy="102000" algn="ctr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1DC056-822C-A80E-417A-5DC8C70EBF61}"/>
                </a:ext>
              </a:extLst>
            </p:cNvPr>
            <p:cNvSpPr txBox="1"/>
            <p:nvPr/>
          </p:nvSpPr>
          <p:spPr>
            <a:xfrm>
              <a:off x="7839671" y="5024044"/>
              <a:ext cx="3444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Produce 7-day production forecasts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44F726-BD18-C610-1368-E9BD1885F5DE}"/>
                </a:ext>
              </a:extLst>
            </p:cNvPr>
            <p:cNvSpPr txBox="1"/>
            <p:nvPr/>
          </p:nvSpPr>
          <p:spPr>
            <a:xfrm>
              <a:off x="7128471" y="4977881"/>
              <a:ext cx="500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04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D09619-FDAF-52F0-E67C-7EDDA3FB9A82}"/>
              </a:ext>
            </a:extLst>
          </p:cNvPr>
          <p:cNvGrpSpPr/>
          <p:nvPr/>
        </p:nvGrpSpPr>
        <p:grpSpPr>
          <a:xfrm>
            <a:off x="6789208" y="5295899"/>
            <a:ext cx="4572000" cy="977898"/>
            <a:chOff x="7023100" y="4673598"/>
            <a:chExt cx="4572000" cy="9778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C9ED9CC-94E0-F504-B21D-CDE16ECE8A33}"/>
                </a:ext>
              </a:extLst>
            </p:cNvPr>
            <p:cNvSpPr/>
            <p:nvPr/>
          </p:nvSpPr>
          <p:spPr>
            <a:xfrm>
              <a:off x="7378700" y="4673598"/>
              <a:ext cx="4216400" cy="97789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D58E1D-60B0-A62E-6824-6986224083A5}"/>
                </a:ext>
              </a:extLst>
            </p:cNvPr>
            <p:cNvSpPr/>
            <p:nvPr/>
          </p:nvSpPr>
          <p:spPr>
            <a:xfrm>
              <a:off x="7023100" y="4806947"/>
              <a:ext cx="711200" cy="711200"/>
            </a:xfrm>
            <a:prstGeom prst="ellipse">
              <a:avLst/>
            </a:prstGeom>
            <a:ln>
              <a:noFill/>
            </a:ln>
            <a:effectLst>
              <a:outerShdw blurRad="127000" sx="102000" sy="102000" algn="ctr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59FAA9-99F1-6642-9AA7-B11CF70FDD39}"/>
                </a:ext>
              </a:extLst>
            </p:cNvPr>
            <p:cNvSpPr txBox="1"/>
            <p:nvPr/>
          </p:nvSpPr>
          <p:spPr>
            <a:xfrm>
              <a:off x="7832725" y="4977881"/>
              <a:ext cx="3444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Detect abnormal extraction patterns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B7EE0B-416A-74DA-1E71-361E9343DC09}"/>
                </a:ext>
              </a:extLst>
            </p:cNvPr>
            <p:cNvSpPr txBox="1"/>
            <p:nvPr/>
          </p:nvSpPr>
          <p:spPr>
            <a:xfrm>
              <a:off x="7138891" y="4977881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05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041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D0590BE-257C-9429-E1FF-FEFEEF72F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94" r="-7894"/>
          <a:stretch>
            <a:fillRect/>
          </a:stretch>
        </p:blipFill>
        <p:spPr>
          <a:xfrm>
            <a:off x="474133" y="1566190"/>
            <a:ext cx="10454191" cy="5261428"/>
          </a:xfrm>
          <a:prstGeom prst="roundRect">
            <a:avLst>
              <a:gd name="adj" fmla="val 9372"/>
            </a:avLst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16AB935-8303-FC78-7A93-A1982B9DB9FD}"/>
              </a:ext>
            </a:extLst>
          </p:cNvPr>
          <p:cNvSpPr/>
          <p:nvPr/>
        </p:nvSpPr>
        <p:spPr>
          <a:xfrm>
            <a:off x="9544050" y="0"/>
            <a:ext cx="2647950" cy="4969105"/>
          </a:xfrm>
          <a:custGeom>
            <a:avLst/>
            <a:gdLst>
              <a:gd name="connsiteX0" fmla="*/ 0 w 2647950"/>
              <a:gd name="connsiteY0" fmla="*/ 0 h 4781550"/>
              <a:gd name="connsiteX1" fmla="*/ 2647950 w 2647950"/>
              <a:gd name="connsiteY1" fmla="*/ 0 h 4781550"/>
              <a:gd name="connsiteX2" fmla="*/ 2647950 w 2647950"/>
              <a:gd name="connsiteY2" fmla="*/ 4781550 h 478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950" h="4781550">
                <a:moveTo>
                  <a:pt x="0" y="0"/>
                </a:moveTo>
                <a:lnTo>
                  <a:pt x="2647950" y="0"/>
                </a:lnTo>
                <a:lnTo>
                  <a:pt x="2647950" y="478155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AEDD8A5-FBA0-CC61-5F65-629012DC3114}"/>
              </a:ext>
            </a:extLst>
          </p:cNvPr>
          <p:cNvSpPr/>
          <p:nvPr/>
        </p:nvSpPr>
        <p:spPr>
          <a:xfrm>
            <a:off x="10687050" y="0"/>
            <a:ext cx="1504950" cy="3424703"/>
          </a:xfrm>
          <a:custGeom>
            <a:avLst/>
            <a:gdLst>
              <a:gd name="connsiteX0" fmla="*/ 0 w 1504950"/>
              <a:gd name="connsiteY0" fmla="*/ 0 h 2724150"/>
              <a:gd name="connsiteX1" fmla="*/ 1504950 w 1504950"/>
              <a:gd name="connsiteY1" fmla="*/ 0 h 2724150"/>
              <a:gd name="connsiteX2" fmla="*/ 1504950 w 1504950"/>
              <a:gd name="connsiteY2" fmla="*/ 2724150 h 272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950" h="2724150">
                <a:moveTo>
                  <a:pt x="0" y="0"/>
                </a:moveTo>
                <a:lnTo>
                  <a:pt x="1504950" y="0"/>
                </a:lnTo>
                <a:lnTo>
                  <a:pt x="1504950" y="272415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C391BDB-0D85-2CC3-BA33-4086856EB1A1}"/>
              </a:ext>
            </a:extLst>
          </p:cNvPr>
          <p:cNvSpPr/>
          <p:nvPr/>
        </p:nvSpPr>
        <p:spPr>
          <a:xfrm>
            <a:off x="6982731" y="5583464"/>
            <a:ext cx="63500" cy="1289050"/>
          </a:xfrm>
          <a:custGeom>
            <a:avLst/>
            <a:gdLst>
              <a:gd name="connsiteX0" fmla="*/ 0 w 63500"/>
              <a:gd name="connsiteY0" fmla="*/ 0 h 1289050"/>
              <a:gd name="connsiteX1" fmla="*/ 63500 w 63500"/>
              <a:gd name="connsiteY1" fmla="*/ 0 h 1289050"/>
              <a:gd name="connsiteX2" fmla="*/ 63500 w 63500"/>
              <a:gd name="connsiteY2" fmla="*/ 1289050 h 1289050"/>
              <a:gd name="connsiteX3" fmla="*/ 0 w 63500"/>
              <a:gd name="connsiteY3" fmla="*/ 1289050 h 128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0" h="1289050">
                <a:moveTo>
                  <a:pt x="0" y="0"/>
                </a:moveTo>
                <a:lnTo>
                  <a:pt x="63500" y="0"/>
                </a:lnTo>
                <a:lnTo>
                  <a:pt x="63500" y="1289050"/>
                </a:lnTo>
                <a:lnTo>
                  <a:pt x="0" y="128905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67D2E9-0D11-1AAA-CC2F-042B2CA744F6}"/>
              </a:ext>
            </a:extLst>
          </p:cNvPr>
          <p:cNvGrpSpPr/>
          <p:nvPr/>
        </p:nvGrpSpPr>
        <p:grpSpPr>
          <a:xfrm>
            <a:off x="1140909" y="328697"/>
            <a:ext cx="4815390" cy="908782"/>
            <a:chOff x="1090109" y="1751621"/>
            <a:chExt cx="4815390" cy="157013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1B776B-96C2-86A5-C37C-B93CACF39208}"/>
                </a:ext>
              </a:extLst>
            </p:cNvPr>
            <p:cNvSpPr txBox="1"/>
            <p:nvPr/>
          </p:nvSpPr>
          <p:spPr>
            <a:xfrm>
              <a:off x="1090109" y="1751621"/>
              <a:ext cx="4329615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accent1"/>
                  </a:solidFill>
                  <a:latin typeface="Montserrat" panose="00000500000000000000" pitchFamily="2" charset="0"/>
                </a:rPr>
                <a:t>Database (ER Diagram, Entities)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B0AD35-6AD9-A322-B806-B3BF6D4BF6AF}"/>
                </a:ext>
              </a:extLst>
            </p:cNvPr>
            <p:cNvSpPr txBox="1"/>
            <p:nvPr/>
          </p:nvSpPr>
          <p:spPr>
            <a:xfrm>
              <a:off x="1090109" y="2445236"/>
              <a:ext cx="4815390" cy="876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50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4399-D323-0843-5037-BBCBD33E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24F69A-698C-5AAD-7D78-445FACA33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05" y="1567190"/>
            <a:ext cx="3220207" cy="51845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8DF4FF0-2DFC-63A1-B690-47E3F7DB8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075" t="-694" r="-62591" b="-10372"/>
          <a:stretch>
            <a:fillRect/>
          </a:stretch>
        </p:blipFill>
        <p:spPr>
          <a:xfrm>
            <a:off x="-4750" y="938872"/>
            <a:ext cx="6725910" cy="6518491"/>
          </a:xfrm>
          <a:prstGeom prst="roundRect">
            <a:avLst>
              <a:gd name="adj" fmla="val 9372"/>
            </a:avLst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F090B96-82B6-ADBC-0D27-2BF924BB3B31}"/>
              </a:ext>
            </a:extLst>
          </p:cNvPr>
          <p:cNvSpPr/>
          <p:nvPr/>
        </p:nvSpPr>
        <p:spPr>
          <a:xfrm>
            <a:off x="9544050" y="0"/>
            <a:ext cx="2647950" cy="4969105"/>
          </a:xfrm>
          <a:custGeom>
            <a:avLst/>
            <a:gdLst>
              <a:gd name="connsiteX0" fmla="*/ 0 w 2647950"/>
              <a:gd name="connsiteY0" fmla="*/ 0 h 4781550"/>
              <a:gd name="connsiteX1" fmla="*/ 2647950 w 2647950"/>
              <a:gd name="connsiteY1" fmla="*/ 0 h 4781550"/>
              <a:gd name="connsiteX2" fmla="*/ 2647950 w 2647950"/>
              <a:gd name="connsiteY2" fmla="*/ 4781550 h 478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950" h="4781550">
                <a:moveTo>
                  <a:pt x="0" y="0"/>
                </a:moveTo>
                <a:lnTo>
                  <a:pt x="2647950" y="0"/>
                </a:lnTo>
                <a:lnTo>
                  <a:pt x="2647950" y="478155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19B375-361F-D580-F634-F7C0A58FD2DB}"/>
              </a:ext>
            </a:extLst>
          </p:cNvPr>
          <p:cNvSpPr/>
          <p:nvPr/>
        </p:nvSpPr>
        <p:spPr>
          <a:xfrm>
            <a:off x="10687050" y="0"/>
            <a:ext cx="1504950" cy="3424703"/>
          </a:xfrm>
          <a:custGeom>
            <a:avLst/>
            <a:gdLst>
              <a:gd name="connsiteX0" fmla="*/ 0 w 1504950"/>
              <a:gd name="connsiteY0" fmla="*/ 0 h 2724150"/>
              <a:gd name="connsiteX1" fmla="*/ 1504950 w 1504950"/>
              <a:gd name="connsiteY1" fmla="*/ 0 h 2724150"/>
              <a:gd name="connsiteX2" fmla="*/ 1504950 w 1504950"/>
              <a:gd name="connsiteY2" fmla="*/ 2724150 h 272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950" h="2724150">
                <a:moveTo>
                  <a:pt x="0" y="0"/>
                </a:moveTo>
                <a:lnTo>
                  <a:pt x="1504950" y="0"/>
                </a:lnTo>
                <a:lnTo>
                  <a:pt x="1504950" y="272415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6F3D28B-2B95-B903-3FC8-87CF19C9D086}"/>
              </a:ext>
            </a:extLst>
          </p:cNvPr>
          <p:cNvSpPr/>
          <p:nvPr/>
        </p:nvSpPr>
        <p:spPr>
          <a:xfrm>
            <a:off x="6982731" y="5583464"/>
            <a:ext cx="63500" cy="1289050"/>
          </a:xfrm>
          <a:custGeom>
            <a:avLst/>
            <a:gdLst>
              <a:gd name="connsiteX0" fmla="*/ 0 w 63500"/>
              <a:gd name="connsiteY0" fmla="*/ 0 h 1289050"/>
              <a:gd name="connsiteX1" fmla="*/ 63500 w 63500"/>
              <a:gd name="connsiteY1" fmla="*/ 0 h 1289050"/>
              <a:gd name="connsiteX2" fmla="*/ 63500 w 63500"/>
              <a:gd name="connsiteY2" fmla="*/ 1289050 h 1289050"/>
              <a:gd name="connsiteX3" fmla="*/ 0 w 63500"/>
              <a:gd name="connsiteY3" fmla="*/ 1289050 h 128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0" h="1289050">
                <a:moveTo>
                  <a:pt x="0" y="0"/>
                </a:moveTo>
                <a:lnTo>
                  <a:pt x="63500" y="0"/>
                </a:lnTo>
                <a:lnTo>
                  <a:pt x="63500" y="1289050"/>
                </a:lnTo>
                <a:lnTo>
                  <a:pt x="0" y="128905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24D2092-98EB-DEAD-B550-AD3B9900A64B}"/>
              </a:ext>
            </a:extLst>
          </p:cNvPr>
          <p:cNvGrpSpPr/>
          <p:nvPr/>
        </p:nvGrpSpPr>
        <p:grpSpPr>
          <a:xfrm>
            <a:off x="1123975" y="354097"/>
            <a:ext cx="4815390" cy="877147"/>
            <a:chOff x="1090109" y="1751621"/>
            <a:chExt cx="4815390" cy="151548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CF4339-1606-4E29-FA30-0DA83BC02A14}"/>
                </a:ext>
              </a:extLst>
            </p:cNvPr>
            <p:cNvSpPr txBox="1"/>
            <p:nvPr/>
          </p:nvSpPr>
          <p:spPr>
            <a:xfrm>
              <a:off x="1090109" y="1751621"/>
              <a:ext cx="4329615" cy="10103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accent1"/>
                  </a:solidFill>
                  <a:latin typeface="Montserrat" panose="00000500000000000000" pitchFamily="2" charset="0"/>
                </a:rPr>
                <a:t>Business Process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078B55-E368-C4F8-6C71-0962924B04B0}"/>
                </a:ext>
              </a:extLst>
            </p:cNvPr>
            <p:cNvSpPr txBox="1"/>
            <p:nvPr/>
          </p:nvSpPr>
          <p:spPr>
            <a:xfrm>
              <a:off x="1090109" y="2390578"/>
              <a:ext cx="4815390" cy="876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298823-81A4-C17C-8629-1503F09B1099}"/>
              </a:ext>
            </a:extLst>
          </p:cNvPr>
          <p:cNvSpPr txBox="1"/>
          <p:nvPr/>
        </p:nvSpPr>
        <p:spPr>
          <a:xfrm>
            <a:off x="6624135" y="1311106"/>
            <a:ext cx="4815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FA5E6-94A3-9CDB-4A1C-562599C5A4B6}"/>
              </a:ext>
            </a:extLst>
          </p:cNvPr>
          <p:cNvSpPr txBox="1"/>
          <p:nvPr/>
        </p:nvSpPr>
        <p:spPr>
          <a:xfrm>
            <a:off x="5939366" y="865848"/>
            <a:ext cx="409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BPMN Workflow Detailed Explanation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64FF36-C40A-E5FA-DCBE-E9C20ADBC4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902" y="1557327"/>
            <a:ext cx="3505703" cy="51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2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A yellow construction vehicle with a large bucket&#10;&#10;Description automatically generated">
            <a:extLst>
              <a:ext uri="{FF2B5EF4-FFF2-40B4-BE49-F238E27FC236}">
                <a16:creationId xmlns:a16="http://schemas.microsoft.com/office/drawing/2014/main" id="{5D111A91-3CD5-D30A-8535-FAFBECB55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5" t="17516" r="858" b="19318"/>
          <a:stretch>
            <a:fillRect/>
          </a:stretch>
        </p:blipFill>
        <p:spPr>
          <a:xfrm>
            <a:off x="0" y="3003550"/>
            <a:ext cx="11601450" cy="3479800"/>
          </a:xfrm>
          <a:custGeom>
            <a:avLst/>
            <a:gdLst>
              <a:gd name="connsiteX0" fmla="*/ 9626600 w 11601450"/>
              <a:gd name="connsiteY0" fmla="*/ 0 h 3479800"/>
              <a:gd name="connsiteX1" fmla="*/ 11601450 w 11601450"/>
              <a:gd name="connsiteY1" fmla="*/ 3479800 h 3479800"/>
              <a:gd name="connsiteX2" fmla="*/ 0 w 11601450"/>
              <a:gd name="connsiteY2" fmla="*/ 3479800 h 3479800"/>
              <a:gd name="connsiteX3" fmla="*/ 0 w 11601450"/>
              <a:gd name="connsiteY3" fmla="*/ 63500 h 3479800"/>
              <a:gd name="connsiteX4" fmla="*/ 9626600 w 11601450"/>
              <a:gd name="connsiteY4" fmla="*/ 0 h 347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01450" h="3479800">
                <a:moveTo>
                  <a:pt x="9626600" y="0"/>
                </a:moveTo>
                <a:lnTo>
                  <a:pt x="11601450" y="3479800"/>
                </a:lnTo>
                <a:lnTo>
                  <a:pt x="0" y="3479800"/>
                </a:lnTo>
                <a:lnTo>
                  <a:pt x="0" y="63500"/>
                </a:lnTo>
                <a:lnTo>
                  <a:pt x="9626600" y="0"/>
                </a:lnTo>
                <a:close/>
              </a:path>
            </a:pathLst>
          </a:cu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5CC156-2F83-E66D-7539-A2B9B3F0F68E}"/>
              </a:ext>
            </a:extLst>
          </p:cNvPr>
          <p:cNvSpPr/>
          <p:nvPr/>
        </p:nvSpPr>
        <p:spPr>
          <a:xfrm>
            <a:off x="15903" y="3003550"/>
            <a:ext cx="11601450" cy="3479800"/>
          </a:xfrm>
          <a:custGeom>
            <a:avLst/>
            <a:gdLst>
              <a:gd name="connsiteX0" fmla="*/ 0 w 11601450"/>
              <a:gd name="connsiteY0" fmla="*/ 63500 h 3479800"/>
              <a:gd name="connsiteX1" fmla="*/ 9626600 w 11601450"/>
              <a:gd name="connsiteY1" fmla="*/ 0 h 3479800"/>
              <a:gd name="connsiteX2" fmla="*/ 11601450 w 11601450"/>
              <a:gd name="connsiteY2" fmla="*/ 3479800 h 3479800"/>
              <a:gd name="connsiteX3" fmla="*/ 0 w 11601450"/>
              <a:gd name="connsiteY3" fmla="*/ 3479800 h 3479800"/>
              <a:gd name="connsiteX4" fmla="*/ 0 w 11601450"/>
              <a:gd name="connsiteY4" fmla="*/ 63500 h 347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01450" h="3479800">
                <a:moveTo>
                  <a:pt x="0" y="63500"/>
                </a:moveTo>
                <a:lnTo>
                  <a:pt x="9626600" y="0"/>
                </a:lnTo>
                <a:lnTo>
                  <a:pt x="11601450" y="3479800"/>
                </a:lnTo>
                <a:lnTo>
                  <a:pt x="0" y="3479800"/>
                </a:lnTo>
                <a:lnTo>
                  <a:pt x="0" y="63500"/>
                </a:lnTo>
                <a:close/>
              </a:path>
            </a:pathLst>
          </a:custGeom>
          <a:solidFill>
            <a:schemeClr val="accent2">
              <a:alpha val="87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IN" dirty="0"/>
              <a:t>v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B7C57F2-96EF-1673-4292-2EB5A1951DC2}"/>
              </a:ext>
            </a:extLst>
          </p:cNvPr>
          <p:cNvSpPr/>
          <p:nvPr/>
        </p:nvSpPr>
        <p:spPr>
          <a:xfrm>
            <a:off x="8407400" y="0"/>
            <a:ext cx="3797300" cy="6858000"/>
          </a:xfrm>
          <a:custGeom>
            <a:avLst/>
            <a:gdLst>
              <a:gd name="connsiteX0" fmla="*/ 0 w 3797300"/>
              <a:gd name="connsiteY0" fmla="*/ 0 h 6858000"/>
              <a:gd name="connsiteX1" fmla="*/ 3797300 w 3797300"/>
              <a:gd name="connsiteY1" fmla="*/ 0 h 6858000"/>
              <a:gd name="connsiteX2" fmla="*/ 3797300 w 379730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7300" h="6858000">
                <a:moveTo>
                  <a:pt x="0" y="0"/>
                </a:moveTo>
                <a:lnTo>
                  <a:pt x="3797300" y="0"/>
                </a:lnTo>
                <a:lnTo>
                  <a:pt x="3797300" y="685800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ECFC17-4EF7-A482-027B-DEB3F7A779FB}"/>
              </a:ext>
            </a:extLst>
          </p:cNvPr>
          <p:cNvSpPr/>
          <p:nvPr/>
        </p:nvSpPr>
        <p:spPr>
          <a:xfrm>
            <a:off x="9556750" y="0"/>
            <a:ext cx="2647950" cy="4781550"/>
          </a:xfrm>
          <a:custGeom>
            <a:avLst/>
            <a:gdLst>
              <a:gd name="connsiteX0" fmla="*/ 0 w 2647950"/>
              <a:gd name="connsiteY0" fmla="*/ 0 h 4781550"/>
              <a:gd name="connsiteX1" fmla="*/ 2647950 w 2647950"/>
              <a:gd name="connsiteY1" fmla="*/ 0 h 4781550"/>
              <a:gd name="connsiteX2" fmla="*/ 2647950 w 2647950"/>
              <a:gd name="connsiteY2" fmla="*/ 4781550 h 478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7950" h="4781550">
                <a:moveTo>
                  <a:pt x="0" y="0"/>
                </a:moveTo>
                <a:lnTo>
                  <a:pt x="2647950" y="0"/>
                </a:lnTo>
                <a:lnTo>
                  <a:pt x="2647950" y="478155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4C7AB9E-0C5B-6933-B22F-2A26956ED04B}"/>
              </a:ext>
            </a:extLst>
          </p:cNvPr>
          <p:cNvSpPr/>
          <p:nvPr/>
        </p:nvSpPr>
        <p:spPr>
          <a:xfrm>
            <a:off x="10699750" y="0"/>
            <a:ext cx="1504950" cy="2724150"/>
          </a:xfrm>
          <a:custGeom>
            <a:avLst/>
            <a:gdLst>
              <a:gd name="connsiteX0" fmla="*/ 0 w 1504950"/>
              <a:gd name="connsiteY0" fmla="*/ 0 h 2724150"/>
              <a:gd name="connsiteX1" fmla="*/ 1504950 w 1504950"/>
              <a:gd name="connsiteY1" fmla="*/ 0 h 2724150"/>
              <a:gd name="connsiteX2" fmla="*/ 1504950 w 1504950"/>
              <a:gd name="connsiteY2" fmla="*/ 2724150 h 272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950" h="2724150">
                <a:moveTo>
                  <a:pt x="0" y="0"/>
                </a:moveTo>
                <a:lnTo>
                  <a:pt x="1504950" y="0"/>
                </a:lnTo>
                <a:lnTo>
                  <a:pt x="1504950" y="272415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07AE56-ECE8-FE59-22F1-3BF6C051A928}"/>
              </a:ext>
            </a:extLst>
          </p:cNvPr>
          <p:cNvSpPr txBox="1"/>
          <p:nvPr/>
        </p:nvSpPr>
        <p:spPr>
          <a:xfrm>
            <a:off x="1734636" y="1069687"/>
            <a:ext cx="43296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Technical (PL/SQL Technology)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5ACAE66-92E6-4990-749D-853186A3E990}"/>
              </a:ext>
            </a:extLst>
          </p:cNvPr>
          <p:cNvGrpSpPr/>
          <p:nvPr/>
        </p:nvGrpSpPr>
        <p:grpSpPr>
          <a:xfrm>
            <a:off x="78317" y="3280546"/>
            <a:ext cx="8286220" cy="2643887"/>
            <a:chOff x="882650" y="3826058"/>
            <a:chExt cx="8286220" cy="264388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DB0267-99BA-1238-F1C8-A6799E4A793D}"/>
                </a:ext>
              </a:extLst>
            </p:cNvPr>
            <p:cNvSpPr txBox="1"/>
            <p:nvPr/>
          </p:nvSpPr>
          <p:spPr>
            <a:xfrm>
              <a:off x="1473200" y="4004141"/>
              <a:ext cx="33655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 used Oracle Database 19c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A2151E3-EBF4-1C84-1E44-1312D3724371}"/>
                </a:ext>
              </a:extLst>
            </p:cNvPr>
            <p:cNvSpPr txBox="1"/>
            <p:nvPr/>
          </p:nvSpPr>
          <p:spPr>
            <a:xfrm>
              <a:off x="1434467" y="4759990"/>
              <a:ext cx="33655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 created Table using DDL scripts</a:t>
              </a:r>
              <a:endParaRPr lang="en-IN" sz="11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D8C0A4F-050B-E4E2-B41F-85F2C30EFF44}"/>
                </a:ext>
              </a:extLst>
            </p:cNvPr>
            <p:cNvSpPr txBox="1"/>
            <p:nvPr/>
          </p:nvSpPr>
          <p:spPr>
            <a:xfrm>
              <a:off x="1454150" y="5469671"/>
              <a:ext cx="3365500" cy="10002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PL/SQL packages for: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Extraction → Summary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Forecasting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Anomaly detection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3927C4-9103-8FB5-828B-956942677593}"/>
                </a:ext>
              </a:extLst>
            </p:cNvPr>
            <p:cNvSpPr txBox="1"/>
            <p:nvPr/>
          </p:nvSpPr>
          <p:spPr>
            <a:xfrm>
              <a:off x="5803370" y="3959506"/>
              <a:ext cx="33655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 created triggers for auditing and validation</a:t>
              </a:r>
              <a:endParaRPr lang="en-IN" sz="11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DBB2F01-224B-87FA-C553-19AF8D2F43E1}"/>
                </a:ext>
              </a:extLst>
            </p:cNvPr>
            <p:cNvGrpSpPr/>
            <p:nvPr/>
          </p:nvGrpSpPr>
          <p:grpSpPr>
            <a:xfrm>
              <a:off x="882650" y="3826058"/>
              <a:ext cx="571500" cy="571500"/>
              <a:chOff x="882650" y="3826058"/>
              <a:chExt cx="571500" cy="571500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5AB81D-8B46-4E8B-29FC-63C283943AC5}"/>
                  </a:ext>
                </a:extLst>
              </p:cNvPr>
              <p:cNvSpPr/>
              <p:nvPr/>
            </p:nvSpPr>
            <p:spPr>
              <a:xfrm>
                <a:off x="882650" y="3826058"/>
                <a:ext cx="571500" cy="571500"/>
              </a:xfrm>
              <a:custGeom>
                <a:avLst/>
                <a:gdLst>
                  <a:gd name="connsiteX0" fmla="*/ 285750 w 571500"/>
                  <a:gd name="connsiteY0" fmla="*/ 0 h 571500"/>
                  <a:gd name="connsiteX1" fmla="*/ 571500 w 571500"/>
                  <a:gd name="connsiteY1" fmla="*/ 285750 h 571500"/>
                  <a:gd name="connsiteX2" fmla="*/ 571500 w 571500"/>
                  <a:gd name="connsiteY2" fmla="*/ 285750 h 571500"/>
                  <a:gd name="connsiteX3" fmla="*/ 285750 w 571500"/>
                  <a:gd name="connsiteY3" fmla="*/ 571500 h 571500"/>
                  <a:gd name="connsiteX4" fmla="*/ 285750 w 571500"/>
                  <a:gd name="connsiteY4" fmla="*/ 571500 h 571500"/>
                  <a:gd name="connsiteX5" fmla="*/ 0 w 571500"/>
                  <a:gd name="connsiteY5" fmla="*/ 285750 h 571500"/>
                  <a:gd name="connsiteX6" fmla="*/ 0 w 571500"/>
                  <a:gd name="connsiteY6" fmla="*/ 285750 h 571500"/>
                  <a:gd name="connsiteX7" fmla="*/ 285750 w 571500"/>
                  <a:gd name="connsiteY7" fmla="*/ 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0" h="571500">
                    <a:moveTo>
                      <a:pt x="285750" y="0"/>
                    </a:moveTo>
                    <a:cubicBezTo>
                      <a:pt x="443565" y="0"/>
                      <a:pt x="571500" y="127934"/>
                      <a:pt x="571500" y="285750"/>
                    </a:cubicBezTo>
                    <a:lnTo>
                      <a:pt x="571500" y="285750"/>
                    </a:lnTo>
                    <a:cubicBezTo>
                      <a:pt x="571500" y="443566"/>
                      <a:pt x="443565" y="571500"/>
                      <a:pt x="285750" y="571500"/>
                    </a:cubicBezTo>
                    <a:lnTo>
                      <a:pt x="285750" y="571500"/>
                    </a:lnTo>
                    <a:cubicBezTo>
                      <a:pt x="127935" y="571500"/>
                      <a:pt x="0" y="443566"/>
                      <a:pt x="0" y="285750"/>
                    </a:cubicBezTo>
                    <a:lnTo>
                      <a:pt x="0" y="285750"/>
                    </a:lnTo>
                    <a:cubicBezTo>
                      <a:pt x="0" y="127934"/>
                      <a:pt x="127935" y="0"/>
                      <a:pt x="2857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5BE6DB-C93A-5C8D-6ADC-3AA083A2F6AE}"/>
                  </a:ext>
                </a:extLst>
              </p:cNvPr>
              <p:cNvSpPr txBox="1"/>
              <p:nvPr/>
            </p:nvSpPr>
            <p:spPr>
              <a:xfrm>
                <a:off x="952636" y="392714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01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E23FC76-48AD-C987-354F-2CBFBDA1FE40}"/>
                </a:ext>
              </a:extLst>
            </p:cNvPr>
            <p:cNvGrpSpPr/>
            <p:nvPr/>
          </p:nvGrpSpPr>
          <p:grpSpPr>
            <a:xfrm>
              <a:off x="901700" y="4649438"/>
              <a:ext cx="571500" cy="571500"/>
              <a:chOff x="901700" y="4649438"/>
              <a:chExt cx="571500" cy="57150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942C864-23AA-820D-532F-52CFE6772CCA}"/>
                  </a:ext>
                </a:extLst>
              </p:cNvPr>
              <p:cNvSpPr/>
              <p:nvPr/>
            </p:nvSpPr>
            <p:spPr>
              <a:xfrm>
                <a:off x="901700" y="4649438"/>
                <a:ext cx="571500" cy="571500"/>
              </a:xfrm>
              <a:custGeom>
                <a:avLst/>
                <a:gdLst>
                  <a:gd name="connsiteX0" fmla="*/ 285750 w 571500"/>
                  <a:gd name="connsiteY0" fmla="*/ 0 h 571500"/>
                  <a:gd name="connsiteX1" fmla="*/ 571500 w 571500"/>
                  <a:gd name="connsiteY1" fmla="*/ 285750 h 571500"/>
                  <a:gd name="connsiteX2" fmla="*/ 571500 w 571500"/>
                  <a:gd name="connsiteY2" fmla="*/ 285750 h 571500"/>
                  <a:gd name="connsiteX3" fmla="*/ 285750 w 571500"/>
                  <a:gd name="connsiteY3" fmla="*/ 571500 h 571500"/>
                  <a:gd name="connsiteX4" fmla="*/ 285750 w 571500"/>
                  <a:gd name="connsiteY4" fmla="*/ 571500 h 571500"/>
                  <a:gd name="connsiteX5" fmla="*/ 0 w 571500"/>
                  <a:gd name="connsiteY5" fmla="*/ 285750 h 571500"/>
                  <a:gd name="connsiteX6" fmla="*/ 0 w 571500"/>
                  <a:gd name="connsiteY6" fmla="*/ 285750 h 571500"/>
                  <a:gd name="connsiteX7" fmla="*/ 285750 w 571500"/>
                  <a:gd name="connsiteY7" fmla="*/ 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0" h="571500">
                    <a:moveTo>
                      <a:pt x="285750" y="0"/>
                    </a:moveTo>
                    <a:cubicBezTo>
                      <a:pt x="443565" y="0"/>
                      <a:pt x="571500" y="127934"/>
                      <a:pt x="571500" y="285750"/>
                    </a:cubicBezTo>
                    <a:lnTo>
                      <a:pt x="571500" y="285750"/>
                    </a:lnTo>
                    <a:cubicBezTo>
                      <a:pt x="571500" y="443566"/>
                      <a:pt x="443565" y="571500"/>
                      <a:pt x="285750" y="571500"/>
                    </a:cubicBezTo>
                    <a:lnTo>
                      <a:pt x="285750" y="571500"/>
                    </a:lnTo>
                    <a:cubicBezTo>
                      <a:pt x="127935" y="571500"/>
                      <a:pt x="0" y="443566"/>
                      <a:pt x="0" y="285750"/>
                    </a:cubicBezTo>
                    <a:lnTo>
                      <a:pt x="0" y="285750"/>
                    </a:lnTo>
                    <a:cubicBezTo>
                      <a:pt x="0" y="127934"/>
                      <a:pt x="127935" y="0"/>
                      <a:pt x="2857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D43AFA-93FB-FDFC-45B5-BC8ECC5E710B}"/>
                  </a:ext>
                </a:extLst>
              </p:cNvPr>
              <p:cNvSpPr txBox="1"/>
              <p:nvPr/>
            </p:nvSpPr>
            <p:spPr>
              <a:xfrm>
                <a:off x="929392" y="4759990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02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F631E7A-EADF-D06C-D143-8E76B801E84B}"/>
                </a:ext>
              </a:extLst>
            </p:cNvPr>
            <p:cNvGrpSpPr/>
            <p:nvPr/>
          </p:nvGrpSpPr>
          <p:grpSpPr>
            <a:xfrm>
              <a:off x="5189007" y="3826058"/>
              <a:ext cx="571500" cy="571500"/>
              <a:chOff x="5189007" y="3826058"/>
              <a:chExt cx="571500" cy="5715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544FF69-075D-383B-5477-1BC641223523}"/>
                  </a:ext>
                </a:extLst>
              </p:cNvPr>
              <p:cNvSpPr/>
              <p:nvPr/>
            </p:nvSpPr>
            <p:spPr>
              <a:xfrm>
                <a:off x="5189007" y="3826058"/>
                <a:ext cx="571500" cy="571500"/>
              </a:xfrm>
              <a:custGeom>
                <a:avLst/>
                <a:gdLst>
                  <a:gd name="connsiteX0" fmla="*/ 285750 w 571500"/>
                  <a:gd name="connsiteY0" fmla="*/ 0 h 571500"/>
                  <a:gd name="connsiteX1" fmla="*/ 571500 w 571500"/>
                  <a:gd name="connsiteY1" fmla="*/ 285750 h 571500"/>
                  <a:gd name="connsiteX2" fmla="*/ 571500 w 571500"/>
                  <a:gd name="connsiteY2" fmla="*/ 285750 h 571500"/>
                  <a:gd name="connsiteX3" fmla="*/ 285750 w 571500"/>
                  <a:gd name="connsiteY3" fmla="*/ 571500 h 571500"/>
                  <a:gd name="connsiteX4" fmla="*/ 285750 w 571500"/>
                  <a:gd name="connsiteY4" fmla="*/ 571500 h 571500"/>
                  <a:gd name="connsiteX5" fmla="*/ 0 w 571500"/>
                  <a:gd name="connsiteY5" fmla="*/ 285750 h 571500"/>
                  <a:gd name="connsiteX6" fmla="*/ 0 w 571500"/>
                  <a:gd name="connsiteY6" fmla="*/ 285750 h 571500"/>
                  <a:gd name="connsiteX7" fmla="*/ 285750 w 571500"/>
                  <a:gd name="connsiteY7" fmla="*/ 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0" h="571500">
                    <a:moveTo>
                      <a:pt x="285750" y="0"/>
                    </a:moveTo>
                    <a:cubicBezTo>
                      <a:pt x="443566" y="0"/>
                      <a:pt x="571500" y="127934"/>
                      <a:pt x="571500" y="285750"/>
                    </a:cubicBezTo>
                    <a:lnTo>
                      <a:pt x="571500" y="285750"/>
                    </a:lnTo>
                    <a:cubicBezTo>
                      <a:pt x="571500" y="443566"/>
                      <a:pt x="443566" y="571500"/>
                      <a:pt x="285750" y="571500"/>
                    </a:cubicBezTo>
                    <a:lnTo>
                      <a:pt x="285750" y="571500"/>
                    </a:lnTo>
                    <a:cubicBezTo>
                      <a:pt x="127934" y="571500"/>
                      <a:pt x="0" y="443566"/>
                      <a:pt x="0" y="285750"/>
                    </a:cubicBezTo>
                    <a:lnTo>
                      <a:pt x="0" y="285750"/>
                    </a:lnTo>
                    <a:cubicBezTo>
                      <a:pt x="0" y="127934"/>
                      <a:pt x="127934" y="0"/>
                      <a:pt x="2857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821732A-D436-5773-9615-9C8E1F38349D}"/>
                  </a:ext>
                </a:extLst>
              </p:cNvPr>
              <p:cNvSpPr txBox="1"/>
              <p:nvPr/>
            </p:nvSpPr>
            <p:spPr>
              <a:xfrm>
                <a:off x="5214847" y="3927142"/>
                <a:ext cx="500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04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A316D7E-6786-9642-150E-B7148ABF577D}"/>
                </a:ext>
              </a:extLst>
            </p:cNvPr>
            <p:cNvGrpSpPr/>
            <p:nvPr/>
          </p:nvGrpSpPr>
          <p:grpSpPr>
            <a:xfrm>
              <a:off x="901700" y="5415897"/>
              <a:ext cx="571500" cy="571529"/>
              <a:chOff x="901700" y="5415897"/>
              <a:chExt cx="571500" cy="571529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063731A-5523-E609-E418-06E1D9C566AC}"/>
                  </a:ext>
                </a:extLst>
              </p:cNvPr>
              <p:cNvSpPr/>
              <p:nvPr/>
            </p:nvSpPr>
            <p:spPr>
              <a:xfrm>
                <a:off x="901700" y="5415897"/>
                <a:ext cx="571500" cy="571529"/>
              </a:xfrm>
              <a:custGeom>
                <a:avLst/>
                <a:gdLst>
                  <a:gd name="connsiteX0" fmla="*/ 285750 w 571500"/>
                  <a:gd name="connsiteY0" fmla="*/ 0 h 571500"/>
                  <a:gd name="connsiteX1" fmla="*/ 571500 w 571500"/>
                  <a:gd name="connsiteY1" fmla="*/ 285750 h 571500"/>
                  <a:gd name="connsiteX2" fmla="*/ 571500 w 571500"/>
                  <a:gd name="connsiteY2" fmla="*/ 285750 h 571500"/>
                  <a:gd name="connsiteX3" fmla="*/ 285750 w 571500"/>
                  <a:gd name="connsiteY3" fmla="*/ 571500 h 571500"/>
                  <a:gd name="connsiteX4" fmla="*/ 285750 w 571500"/>
                  <a:gd name="connsiteY4" fmla="*/ 571500 h 571500"/>
                  <a:gd name="connsiteX5" fmla="*/ 0 w 571500"/>
                  <a:gd name="connsiteY5" fmla="*/ 285750 h 571500"/>
                  <a:gd name="connsiteX6" fmla="*/ 0 w 571500"/>
                  <a:gd name="connsiteY6" fmla="*/ 285750 h 571500"/>
                  <a:gd name="connsiteX7" fmla="*/ 285750 w 571500"/>
                  <a:gd name="connsiteY7" fmla="*/ 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0" h="571500">
                    <a:moveTo>
                      <a:pt x="285750" y="0"/>
                    </a:moveTo>
                    <a:cubicBezTo>
                      <a:pt x="443566" y="0"/>
                      <a:pt x="571500" y="127934"/>
                      <a:pt x="571500" y="285750"/>
                    </a:cubicBezTo>
                    <a:lnTo>
                      <a:pt x="571500" y="285750"/>
                    </a:lnTo>
                    <a:cubicBezTo>
                      <a:pt x="571500" y="443566"/>
                      <a:pt x="443566" y="571500"/>
                      <a:pt x="285750" y="571500"/>
                    </a:cubicBezTo>
                    <a:lnTo>
                      <a:pt x="285750" y="571500"/>
                    </a:lnTo>
                    <a:cubicBezTo>
                      <a:pt x="127934" y="571500"/>
                      <a:pt x="0" y="443566"/>
                      <a:pt x="0" y="285750"/>
                    </a:cubicBezTo>
                    <a:lnTo>
                      <a:pt x="0" y="285750"/>
                    </a:lnTo>
                    <a:cubicBezTo>
                      <a:pt x="0" y="127934"/>
                      <a:pt x="127934" y="0"/>
                      <a:pt x="2857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56BF26-19E3-B0BA-1CDC-EFBD969E623B}"/>
                  </a:ext>
                </a:extLst>
              </p:cNvPr>
              <p:cNvSpPr txBox="1"/>
              <p:nvPr/>
            </p:nvSpPr>
            <p:spPr>
              <a:xfrm>
                <a:off x="929392" y="5528544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03</a:t>
                </a:r>
                <a:endParaRPr lang="en-IN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8A42310-D3B2-B11D-A621-E4AAB67B726D}"/>
              </a:ext>
            </a:extLst>
          </p:cNvPr>
          <p:cNvSpPr/>
          <p:nvPr/>
        </p:nvSpPr>
        <p:spPr>
          <a:xfrm>
            <a:off x="4366531" y="4180840"/>
            <a:ext cx="571500" cy="571500"/>
          </a:xfrm>
          <a:custGeom>
            <a:avLst/>
            <a:gdLst>
              <a:gd name="connsiteX0" fmla="*/ 285750 w 571500"/>
              <a:gd name="connsiteY0" fmla="*/ 0 h 571500"/>
              <a:gd name="connsiteX1" fmla="*/ 571500 w 571500"/>
              <a:gd name="connsiteY1" fmla="*/ 285750 h 571500"/>
              <a:gd name="connsiteX2" fmla="*/ 571500 w 571500"/>
              <a:gd name="connsiteY2" fmla="*/ 285750 h 571500"/>
              <a:gd name="connsiteX3" fmla="*/ 285750 w 571500"/>
              <a:gd name="connsiteY3" fmla="*/ 571500 h 571500"/>
              <a:gd name="connsiteX4" fmla="*/ 285750 w 571500"/>
              <a:gd name="connsiteY4" fmla="*/ 571500 h 571500"/>
              <a:gd name="connsiteX5" fmla="*/ 0 w 571500"/>
              <a:gd name="connsiteY5" fmla="*/ 285750 h 571500"/>
              <a:gd name="connsiteX6" fmla="*/ 0 w 571500"/>
              <a:gd name="connsiteY6" fmla="*/ 285750 h 571500"/>
              <a:gd name="connsiteX7" fmla="*/ 285750 w 571500"/>
              <a:gd name="connsiteY7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285750" y="0"/>
                </a:moveTo>
                <a:cubicBezTo>
                  <a:pt x="443566" y="0"/>
                  <a:pt x="571500" y="127934"/>
                  <a:pt x="571500" y="285750"/>
                </a:cubicBezTo>
                <a:lnTo>
                  <a:pt x="571500" y="285750"/>
                </a:lnTo>
                <a:cubicBezTo>
                  <a:pt x="571500" y="443566"/>
                  <a:pt x="443566" y="571500"/>
                  <a:pt x="285750" y="571500"/>
                </a:cubicBezTo>
                <a:lnTo>
                  <a:pt x="285750" y="571500"/>
                </a:lnTo>
                <a:cubicBezTo>
                  <a:pt x="127934" y="571500"/>
                  <a:pt x="0" y="443566"/>
                  <a:pt x="0" y="285750"/>
                </a:cubicBezTo>
                <a:lnTo>
                  <a:pt x="0" y="285750"/>
                </a:lnTo>
                <a:cubicBezTo>
                  <a:pt x="0" y="127934"/>
                  <a:pt x="127934" y="0"/>
                  <a:pt x="285750" y="0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Montserrat" panose="00000500000000000000" pitchFamily="2" charset="0"/>
              </a:rPr>
              <a:t>05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D3199-9ACF-ADEA-F64E-EEC4AA4468F3}"/>
              </a:ext>
            </a:extLst>
          </p:cNvPr>
          <p:cNvSpPr txBox="1"/>
          <p:nvPr/>
        </p:nvSpPr>
        <p:spPr>
          <a:xfrm>
            <a:off x="4999037" y="4335785"/>
            <a:ext cx="3365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100" dirty="0">
                <a:solidFill>
                  <a:schemeClr val="bg1"/>
                </a:solidFill>
                <a:latin typeface="Montserrat" panose="00000500000000000000" pitchFamily="2" charset="0"/>
              </a:rPr>
              <a:t>Creation of Sequences for primary keys</a:t>
            </a:r>
          </a:p>
        </p:txBody>
      </p:sp>
    </p:spTree>
    <p:extLst>
      <p:ext uri="{BB962C8B-B14F-4D97-AF65-F5344CB8AC3E}">
        <p14:creationId xmlns:p14="http://schemas.microsoft.com/office/powerpoint/2010/main" val="252905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BB5430-0D10-0BCC-DAEC-59739A71CDF2}"/>
              </a:ext>
            </a:extLst>
          </p:cNvPr>
          <p:cNvSpPr/>
          <p:nvPr/>
        </p:nvSpPr>
        <p:spPr>
          <a:xfrm>
            <a:off x="9912350" y="2730500"/>
            <a:ext cx="2279650" cy="4127500"/>
          </a:xfrm>
          <a:custGeom>
            <a:avLst/>
            <a:gdLst>
              <a:gd name="connsiteX0" fmla="*/ 0 w 2279650"/>
              <a:gd name="connsiteY0" fmla="*/ 4127500 h 4127500"/>
              <a:gd name="connsiteX1" fmla="*/ 2279650 w 2279650"/>
              <a:gd name="connsiteY1" fmla="*/ 4127500 h 4127500"/>
              <a:gd name="connsiteX2" fmla="*/ 2279650 w 2279650"/>
              <a:gd name="connsiteY2" fmla="*/ 0 h 412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9650" h="4127500">
                <a:moveTo>
                  <a:pt x="0" y="4127500"/>
                </a:moveTo>
                <a:lnTo>
                  <a:pt x="2279650" y="4127500"/>
                </a:lnTo>
                <a:lnTo>
                  <a:pt x="227965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946002B-8046-2F2E-6419-50E29F1544F3}"/>
              </a:ext>
            </a:extLst>
          </p:cNvPr>
          <p:cNvSpPr/>
          <p:nvPr/>
        </p:nvSpPr>
        <p:spPr>
          <a:xfrm rot="16200000">
            <a:off x="0" y="0"/>
            <a:ext cx="1397000" cy="1397000"/>
          </a:xfrm>
          <a:custGeom>
            <a:avLst/>
            <a:gdLst>
              <a:gd name="connsiteX0" fmla="*/ 0 w 1397000"/>
              <a:gd name="connsiteY0" fmla="*/ 0 h 1397000"/>
              <a:gd name="connsiteX1" fmla="*/ 1397000 w 1397000"/>
              <a:gd name="connsiteY1" fmla="*/ 0 h 1397000"/>
              <a:gd name="connsiteX2" fmla="*/ 1397000 w 1397000"/>
              <a:gd name="connsiteY2" fmla="*/ 1397000 h 139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1397000">
                <a:moveTo>
                  <a:pt x="0" y="0"/>
                </a:moveTo>
                <a:lnTo>
                  <a:pt x="1397000" y="0"/>
                </a:lnTo>
                <a:lnTo>
                  <a:pt x="1397000" y="139700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48" name="Picture 47" descr="A construction site with piles of rocks&#10;&#10;Description automatically generated">
            <a:extLst>
              <a:ext uri="{FF2B5EF4-FFF2-40B4-BE49-F238E27FC236}">
                <a16:creationId xmlns:a16="http://schemas.microsoft.com/office/drawing/2014/main" id="{233A5A2E-4A86-09F1-B7B6-A1CF5BA0F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347" y="457200"/>
            <a:ext cx="4404364" cy="594360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11AF7E9F-8B94-B666-3FD7-BE1C9AEF3F25}"/>
              </a:ext>
            </a:extLst>
          </p:cNvPr>
          <p:cNvGrpSpPr/>
          <p:nvPr/>
        </p:nvGrpSpPr>
        <p:grpSpPr>
          <a:xfrm>
            <a:off x="1072147" y="1558124"/>
            <a:ext cx="4909553" cy="3741752"/>
            <a:chOff x="1072147" y="1993899"/>
            <a:chExt cx="4909553" cy="374175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0AABC8-104E-0BA8-29E3-2C1402CBC528}"/>
                </a:ext>
              </a:extLst>
            </p:cNvPr>
            <p:cNvSpPr txBox="1"/>
            <p:nvPr/>
          </p:nvSpPr>
          <p:spPr>
            <a:xfrm>
              <a:off x="1072147" y="1993899"/>
              <a:ext cx="45720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200" b="1" dirty="0">
                  <a:solidFill>
                    <a:schemeClr val="accent1"/>
                  </a:solidFill>
                  <a:latin typeface="Montserrat" panose="00000500000000000000" pitchFamily="2" charset="0"/>
                </a:rPr>
                <a:t>Results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0ADFE7-8314-EA04-29EB-97D54971DBE2}"/>
                </a:ext>
              </a:extLst>
            </p:cNvPr>
            <p:cNvSpPr txBox="1"/>
            <p:nvPr/>
          </p:nvSpPr>
          <p:spPr>
            <a:xfrm>
              <a:off x="1072147" y="3197136"/>
              <a:ext cx="4909553" cy="25385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Successfully inserted sample data across all tables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Generated daily production summaries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Forecast tables showing predicted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tonnes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6635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94C384F-18C5-0715-2082-D29AFB0D92C9}"/>
              </a:ext>
            </a:extLst>
          </p:cNvPr>
          <p:cNvSpPr/>
          <p:nvPr/>
        </p:nvSpPr>
        <p:spPr>
          <a:xfrm flipH="1" flipV="1">
            <a:off x="0" y="0"/>
            <a:ext cx="3740150" cy="6771860"/>
          </a:xfrm>
          <a:custGeom>
            <a:avLst/>
            <a:gdLst>
              <a:gd name="connsiteX0" fmla="*/ 0 w 2279650"/>
              <a:gd name="connsiteY0" fmla="*/ 4127500 h 4127500"/>
              <a:gd name="connsiteX1" fmla="*/ 2279650 w 2279650"/>
              <a:gd name="connsiteY1" fmla="*/ 4127500 h 4127500"/>
              <a:gd name="connsiteX2" fmla="*/ 2279650 w 2279650"/>
              <a:gd name="connsiteY2" fmla="*/ 0 h 412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9650" h="4127500">
                <a:moveTo>
                  <a:pt x="0" y="4127500"/>
                </a:moveTo>
                <a:lnTo>
                  <a:pt x="2279650" y="4127500"/>
                </a:lnTo>
                <a:lnTo>
                  <a:pt x="2279650" y="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E5CAA55-DE5B-1487-CF6B-2728C8D7ACF4}"/>
              </a:ext>
            </a:extLst>
          </p:cNvPr>
          <p:cNvSpPr/>
          <p:nvPr/>
        </p:nvSpPr>
        <p:spPr>
          <a:xfrm flipH="1" flipV="1">
            <a:off x="0" y="0"/>
            <a:ext cx="2279650" cy="4127500"/>
          </a:xfrm>
          <a:custGeom>
            <a:avLst/>
            <a:gdLst>
              <a:gd name="connsiteX0" fmla="*/ 0 w 2279650"/>
              <a:gd name="connsiteY0" fmla="*/ 4127500 h 4127500"/>
              <a:gd name="connsiteX1" fmla="*/ 2279650 w 2279650"/>
              <a:gd name="connsiteY1" fmla="*/ 4127500 h 4127500"/>
              <a:gd name="connsiteX2" fmla="*/ 2279650 w 2279650"/>
              <a:gd name="connsiteY2" fmla="*/ 0 h 412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9650" h="4127500">
                <a:moveTo>
                  <a:pt x="0" y="4127500"/>
                </a:moveTo>
                <a:lnTo>
                  <a:pt x="2279650" y="4127500"/>
                </a:lnTo>
                <a:lnTo>
                  <a:pt x="227965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3CE06-037F-1C4B-5496-5BACC793336F}"/>
              </a:ext>
            </a:extLst>
          </p:cNvPr>
          <p:cNvGrpSpPr/>
          <p:nvPr/>
        </p:nvGrpSpPr>
        <p:grpSpPr>
          <a:xfrm>
            <a:off x="6168570" y="304799"/>
            <a:ext cx="4688114" cy="5031350"/>
            <a:chOff x="1072147" y="1993900"/>
            <a:chExt cx="4688114" cy="19232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757702-640B-2EE7-27FD-8A9D028B9BB1}"/>
                </a:ext>
              </a:extLst>
            </p:cNvPr>
            <p:cNvSpPr txBox="1"/>
            <p:nvPr/>
          </p:nvSpPr>
          <p:spPr>
            <a:xfrm>
              <a:off x="1072147" y="1993900"/>
              <a:ext cx="4572001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200" b="1" dirty="0">
                  <a:solidFill>
                    <a:schemeClr val="accent1"/>
                  </a:solidFill>
                  <a:latin typeface="Montserrat" panose="00000500000000000000" pitchFamily="2" charset="0"/>
                </a:rPr>
                <a:t>Conclusion (Achievements, Lessons)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8D3A27-9260-E42E-A37E-32CBB1A5AB3F}"/>
                </a:ext>
              </a:extLst>
            </p:cNvPr>
            <p:cNvSpPr txBox="1"/>
            <p:nvPr/>
          </p:nvSpPr>
          <p:spPr>
            <a:xfrm>
              <a:off x="1072147" y="2629143"/>
              <a:ext cx="4688114" cy="1288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Built full PL/SQL system for mining operations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Automated summaries &amp; forecasting improve planning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Reduced human error and improved data quality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Learned: PL/SQL procedures, triggers, ER modeling, BPMN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8" name="Picture 7" descr="A yellow and blue construction vehicle in a quarry&#10;&#10;Description automatically generated">
            <a:extLst>
              <a:ext uri="{FF2B5EF4-FFF2-40B4-BE49-F238E27FC236}">
                <a16:creationId xmlns:a16="http://schemas.microsoft.com/office/drawing/2014/main" id="{834B79BB-0555-65E7-918E-B5B4B5C5CE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0" r="23520"/>
          <a:stretch/>
        </p:blipFill>
        <p:spPr>
          <a:xfrm>
            <a:off x="684066" y="817222"/>
            <a:ext cx="4149188" cy="5223556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A23AA01-B091-6529-02D7-25CFF584799F}"/>
              </a:ext>
            </a:extLst>
          </p:cNvPr>
          <p:cNvSpPr/>
          <p:nvPr/>
        </p:nvSpPr>
        <p:spPr>
          <a:xfrm>
            <a:off x="10455458" y="3713842"/>
            <a:ext cx="1736542" cy="3144158"/>
          </a:xfrm>
          <a:custGeom>
            <a:avLst/>
            <a:gdLst>
              <a:gd name="connsiteX0" fmla="*/ 0 w 2279650"/>
              <a:gd name="connsiteY0" fmla="*/ 4127500 h 4127500"/>
              <a:gd name="connsiteX1" fmla="*/ 2279650 w 2279650"/>
              <a:gd name="connsiteY1" fmla="*/ 4127500 h 4127500"/>
              <a:gd name="connsiteX2" fmla="*/ 2279650 w 2279650"/>
              <a:gd name="connsiteY2" fmla="*/ 0 h 412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9650" h="4127500">
                <a:moveTo>
                  <a:pt x="0" y="4127500"/>
                </a:moveTo>
                <a:lnTo>
                  <a:pt x="2279650" y="4127500"/>
                </a:lnTo>
                <a:lnTo>
                  <a:pt x="2279650" y="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3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B98AC0-609B-85AC-833F-F0E8B0E773D1}"/>
              </a:ext>
            </a:extLst>
          </p:cNvPr>
          <p:cNvSpPr txBox="1"/>
          <p:nvPr/>
        </p:nvSpPr>
        <p:spPr>
          <a:xfrm>
            <a:off x="1524457" y="2609743"/>
            <a:ext cx="88721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Thank You!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We respect your valuable time with our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If you have any questions, please ask</a:t>
            </a:r>
          </a:p>
        </p:txBody>
      </p:sp>
    </p:spTree>
    <p:extLst>
      <p:ext uri="{BB962C8B-B14F-4D97-AF65-F5344CB8AC3E}">
        <p14:creationId xmlns:p14="http://schemas.microsoft.com/office/powerpoint/2010/main" val="326605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ng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AB911"/>
      </a:accent1>
      <a:accent2>
        <a:srgbClr val="24223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427</Words>
  <Application>Microsoft Office PowerPoint</Application>
  <PresentationFormat>Widescreen</PresentationFormat>
  <Paragraphs>74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Harivenkadesh T.D</dc:creator>
  <cp:lastModifiedBy>Darius mutabazi</cp:lastModifiedBy>
  <cp:revision>14</cp:revision>
  <dcterms:created xsi:type="dcterms:W3CDTF">2024-05-27T11:01:34Z</dcterms:created>
  <dcterms:modified xsi:type="dcterms:W3CDTF">2025-12-05T08:27:49Z</dcterms:modified>
</cp:coreProperties>
</file>